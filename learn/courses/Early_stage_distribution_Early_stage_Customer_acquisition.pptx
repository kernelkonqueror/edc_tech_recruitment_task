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59" r:id="rId5"/>
    <p:sldId id="265" r:id="rId6"/>
    <p:sldId id="262" r:id="rId7"/>
    <p:sldId id="266" r:id="rId8"/>
    <p:sldId id="263" r:id="rId9"/>
    <p:sldId id="270" r:id="rId10"/>
    <p:sldId id="271" r:id="rId11"/>
    <p:sldId id="272" r:id="rId12"/>
    <p:sldId id="27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29" autoAdjust="0"/>
    <p:restoredTop sz="94660"/>
  </p:normalViewPr>
  <p:slideViewPr>
    <p:cSldViewPr snapToGrid="0">
      <p:cViewPr varScale="1">
        <p:scale>
          <a:sx n="72" d="100"/>
          <a:sy n="72" d="100"/>
        </p:scale>
        <p:origin x="516" y="6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E827303-040E-4737-B76A-8F869EC7E51E}" type="datetimeFigureOut">
              <a:rPr lang="en-US" smtClean="0"/>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AD267B-F82E-4B09-B38E-A37B5E78DFD6}" type="slidenum">
              <a:rPr lang="en-US" smtClean="0"/>
              <a:t>‹#›</a:t>
            </a:fld>
            <a:endParaRPr lang="en-US"/>
          </a:p>
        </p:txBody>
      </p:sp>
    </p:spTree>
    <p:extLst>
      <p:ext uri="{BB962C8B-B14F-4D97-AF65-F5344CB8AC3E}">
        <p14:creationId xmlns:p14="http://schemas.microsoft.com/office/powerpoint/2010/main" val="1262372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827303-040E-4737-B76A-8F869EC7E51E}" type="datetimeFigureOut">
              <a:rPr lang="en-US" smtClean="0"/>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AD267B-F82E-4B09-B38E-A37B5E78DFD6}" type="slidenum">
              <a:rPr lang="en-US" smtClean="0"/>
              <a:t>‹#›</a:t>
            </a:fld>
            <a:endParaRPr lang="en-US"/>
          </a:p>
        </p:txBody>
      </p:sp>
    </p:spTree>
    <p:extLst>
      <p:ext uri="{BB962C8B-B14F-4D97-AF65-F5344CB8AC3E}">
        <p14:creationId xmlns:p14="http://schemas.microsoft.com/office/powerpoint/2010/main" val="4126983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E827303-040E-4737-B76A-8F869EC7E51E}" type="datetimeFigureOut">
              <a:rPr lang="en-US" smtClean="0"/>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AD267B-F82E-4B09-B38E-A37B5E78DFD6}" type="slidenum">
              <a:rPr lang="en-US" smtClean="0"/>
              <a:t>‹#›</a:t>
            </a:fld>
            <a:endParaRPr lang="en-US"/>
          </a:p>
        </p:txBody>
      </p:sp>
    </p:spTree>
    <p:extLst>
      <p:ext uri="{BB962C8B-B14F-4D97-AF65-F5344CB8AC3E}">
        <p14:creationId xmlns:p14="http://schemas.microsoft.com/office/powerpoint/2010/main" val="693211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827303-040E-4737-B76A-8F869EC7E51E}" type="datetimeFigureOut">
              <a:rPr lang="en-US" smtClean="0"/>
              <a:t>4/4/2024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AD267B-F82E-4B09-B38E-A37B5E78DFD6}" type="slidenum">
              <a:rPr lang="en-US" smtClean="0"/>
              <a:t>‹#›</a:t>
            </a:fld>
            <a:endParaRPr lang="en-US"/>
          </a:p>
        </p:txBody>
      </p:sp>
    </p:spTree>
    <p:extLst>
      <p:ext uri="{BB962C8B-B14F-4D97-AF65-F5344CB8AC3E}">
        <p14:creationId xmlns:p14="http://schemas.microsoft.com/office/powerpoint/2010/main" val="296162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827303-040E-4737-B76A-8F869EC7E51E}" type="datetimeFigureOut">
              <a:rPr lang="en-US" smtClean="0"/>
              <a:t>4/4/2024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AD267B-F82E-4B09-B38E-A37B5E78DFD6}" type="slidenum">
              <a:rPr lang="en-US" smtClean="0"/>
              <a:t>‹#›</a:t>
            </a:fld>
            <a:endParaRPr lang="en-US"/>
          </a:p>
        </p:txBody>
      </p:sp>
    </p:spTree>
    <p:extLst>
      <p:ext uri="{BB962C8B-B14F-4D97-AF65-F5344CB8AC3E}">
        <p14:creationId xmlns:p14="http://schemas.microsoft.com/office/powerpoint/2010/main" val="4028058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827303-040E-4737-B76A-8F869EC7E51E}" type="datetimeFigureOut">
              <a:rPr lang="en-US" smtClean="0"/>
              <a:t>4/4/2024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AD267B-F82E-4B09-B38E-A37B5E78DFD6}" type="slidenum">
              <a:rPr lang="en-US" smtClean="0"/>
              <a:t>‹#›</a:t>
            </a:fld>
            <a:endParaRPr lang="en-US"/>
          </a:p>
        </p:txBody>
      </p:sp>
    </p:spTree>
    <p:extLst>
      <p:ext uri="{BB962C8B-B14F-4D97-AF65-F5344CB8AC3E}">
        <p14:creationId xmlns:p14="http://schemas.microsoft.com/office/powerpoint/2010/main" val="665061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827303-040E-4737-B76A-8F869EC7E51E}" type="datetimeFigureOut">
              <a:rPr lang="en-US" smtClean="0"/>
              <a:t>4/4/2024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AD267B-F82E-4B09-B38E-A37B5E78DFD6}" type="slidenum">
              <a:rPr lang="en-US" smtClean="0"/>
              <a:t>‹#›</a:t>
            </a:fld>
            <a:endParaRPr lang="en-US"/>
          </a:p>
        </p:txBody>
      </p:sp>
    </p:spTree>
    <p:extLst>
      <p:ext uri="{BB962C8B-B14F-4D97-AF65-F5344CB8AC3E}">
        <p14:creationId xmlns:p14="http://schemas.microsoft.com/office/powerpoint/2010/main" val="1087604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E827303-040E-4737-B76A-8F869EC7E51E}" type="datetimeFigureOut">
              <a:rPr lang="en-US" smtClean="0"/>
              <a:t>4/4/2024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AD267B-F82E-4B09-B38E-A37B5E78DFD6}" type="slidenum">
              <a:rPr lang="en-US" smtClean="0"/>
              <a:t>‹#›</a:t>
            </a:fld>
            <a:endParaRPr lang="en-US"/>
          </a:p>
        </p:txBody>
      </p:sp>
    </p:spTree>
    <p:extLst>
      <p:ext uri="{BB962C8B-B14F-4D97-AF65-F5344CB8AC3E}">
        <p14:creationId xmlns:p14="http://schemas.microsoft.com/office/powerpoint/2010/main" val="3394814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E827303-040E-4737-B76A-8F869EC7E51E}" type="datetimeFigureOut">
              <a:rPr lang="en-US" smtClean="0"/>
              <a:t>4/4/2024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AD267B-F82E-4B09-B38E-A37B5E78DFD6}" type="slidenum">
              <a:rPr lang="en-US" smtClean="0"/>
              <a:t>‹#›</a:t>
            </a:fld>
            <a:endParaRPr lang="en-US"/>
          </a:p>
        </p:txBody>
      </p:sp>
    </p:spTree>
    <p:extLst>
      <p:ext uri="{BB962C8B-B14F-4D97-AF65-F5344CB8AC3E}">
        <p14:creationId xmlns:p14="http://schemas.microsoft.com/office/powerpoint/2010/main" val="1877452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827303-040E-4737-B76A-8F869EC7E51E}" type="datetimeFigureOut">
              <a:rPr lang="en-US" smtClean="0"/>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AD267B-F82E-4B09-B38E-A37B5E78DFD6}" type="slidenum">
              <a:rPr lang="en-US" smtClean="0"/>
              <a:t>‹#›</a:t>
            </a:fld>
            <a:endParaRPr lang="en-US"/>
          </a:p>
        </p:txBody>
      </p:sp>
    </p:spTree>
    <p:extLst>
      <p:ext uri="{BB962C8B-B14F-4D97-AF65-F5344CB8AC3E}">
        <p14:creationId xmlns:p14="http://schemas.microsoft.com/office/powerpoint/2010/main" val="3847443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827303-040E-4737-B76A-8F869EC7E51E}" type="datetimeFigureOut">
              <a:rPr lang="en-US" smtClean="0"/>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AD267B-F82E-4B09-B38E-A37B5E78DFD6}" type="slidenum">
              <a:rPr lang="en-US" smtClean="0"/>
              <a:t>‹#›</a:t>
            </a:fld>
            <a:endParaRPr lang="en-US"/>
          </a:p>
        </p:txBody>
      </p:sp>
    </p:spTree>
    <p:extLst>
      <p:ext uri="{BB962C8B-B14F-4D97-AF65-F5344CB8AC3E}">
        <p14:creationId xmlns:p14="http://schemas.microsoft.com/office/powerpoint/2010/main" val="671981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827303-040E-4737-B76A-8F869EC7E51E}" type="datetimeFigureOut">
              <a:rPr lang="en-US" smtClean="0"/>
              <a:t>4/4/2024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AD267B-F82E-4B09-B38E-A37B5E78DFD6}" type="slidenum">
              <a:rPr lang="en-US" smtClean="0"/>
              <a:t>‹#›</a:t>
            </a:fld>
            <a:endParaRPr lang="en-US"/>
          </a:p>
        </p:txBody>
      </p:sp>
    </p:spTree>
    <p:extLst>
      <p:ext uri="{BB962C8B-B14F-4D97-AF65-F5344CB8AC3E}">
        <p14:creationId xmlns:p14="http://schemas.microsoft.com/office/powerpoint/2010/main" val="876140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Early stage distribution, Customer acquisition, Growth Hacking</a:t>
            </a:r>
            <a:endParaRPr lang="en-US" dirty="0"/>
          </a:p>
        </p:txBody>
      </p:sp>
      <p:sp>
        <p:nvSpPr>
          <p:cNvPr id="3" name="Subtitle 2"/>
          <p:cNvSpPr>
            <a:spLocks noGrp="1"/>
          </p:cNvSpPr>
          <p:nvPr>
            <p:ph type="subTitle" idx="1"/>
          </p:nvPr>
        </p:nvSpPr>
        <p:spPr/>
        <p:txBody>
          <a:bodyPr/>
          <a:lstStyle/>
          <a:p>
            <a:r>
              <a:rPr lang="en-US" dirty="0" smtClean="0"/>
              <a:t>Credits – My own experiences, </a:t>
            </a:r>
            <a:r>
              <a:rPr lang="en-US" dirty="0" err="1" smtClean="0"/>
              <a:t>chatgpt</a:t>
            </a:r>
            <a:endParaRPr lang="en-US" dirty="0"/>
          </a:p>
        </p:txBody>
      </p:sp>
    </p:spTree>
    <p:extLst>
      <p:ext uri="{BB962C8B-B14F-4D97-AF65-F5344CB8AC3E}">
        <p14:creationId xmlns:p14="http://schemas.microsoft.com/office/powerpoint/2010/main" val="4194596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Now you’ve built something – How do you take it to Market ?</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There is no one way</a:t>
            </a:r>
          </a:p>
          <a:p>
            <a:pPr marL="0" indent="0">
              <a:buNone/>
            </a:pPr>
            <a:endParaRPr lang="en-US" dirty="0" smtClean="0"/>
          </a:p>
          <a:p>
            <a:r>
              <a:rPr lang="en-US" dirty="0" smtClean="0"/>
              <a:t>Build and Sell (Engineering teams underestimate this)</a:t>
            </a:r>
          </a:p>
          <a:p>
            <a:r>
              <a:rPr lang="en-US" dirty="0" smtClean="0"/>
              <a:t>Depends on your category, Business model, </a:t>
            </a:r>
            <a:r>
              <a:rPr lang="en-US" dirty="0"/>
              <a:t>M</a:t>
            </a:r>
            <a:r>
              <a:rPr lang="en-US" dirty="0" smtClean="0"/>
              <a:t>arket readiness</a:t>
            </a:r>
          </a:p>
          <a:p>
            <a:r>
              <a:rPr lang="en-US" dirty="0" smtClean="0"/>
              <a:t>Horses for Courses</a:t>
            </a:r>
          </a:p>
          <a:p>
            <a:r>
              <a:rPr lang="en-US" dirty="0" smtClean="0"/>
              <a:t>B2C vs B2B vs C2C vs B2G </a:t>
            </a:r>
          </a:p>
          <a:p>
            <a:r>
              <a:rPr lang="en-US" dirty="0" smtClean="0"/>
              <a:t>High involvement vs Low involvement </a:t>
            </a:r>
          </a:p>
          <a:p>
            <a:r>
              <a:rPr lang="en-US" dirty="0" smtClean="0"/>
              <a:t>Early mover or Late</a:t>
            </a:r>
          </a:p>
          <a:p>
            <a:r>
              <a:rPr lang="en-US" dirty="0" smtClean="0"/>
              <a:t>Unique or slightly better</a:t>
            </a:r>
          </a:p>
          <a:p>
            <a:r>
              <a:rPr lang="en-US" dirty="0" smtClean="0"/>
              <a:t>Differentiated or not </a:t>
            </a:r>
          </a:p>
          <a:p>
            <a:endParaRPr lang="en-US" dirty="0"/>
          </a:p>
          <a:p>
            <a:pPr marL="0" indent="0">
              <a:buNone/>
            </a:pPr>
            <a:endParaRPr lang="en-US" dirty="0" smtClean="0"/>
          </a:p>
        </p:txBody>
      </p:sp>
    </p:spTree>
    <p:extLst>
      <p:ext uri="{BB962C8B-B14F-4D97-AF65-F5344CB8AC3E}">
        <p14:creationId xmlns:p14="http://schemas.microsoft.com/office/powerpoint/2010/main" val="888896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Going to Market</a:t>
            </a: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Understand your customer – needs, segments </a:t>
            </a:r>
          </a:p>
          <a:p>
            <a:r>
              <a:rPr lang="en-US" dirty="0" smtClean="0"/>
              <a:t>Understand </a:t>
            </a:r>
            <a:r>
              <a:rPr lang="en-US" dirty="0"/>
              <a:t>your competition</a:t>
            </a:r>
          </a:p>
          <a:p>
            <a:r>
              <a:rPr lang="en-US" dirty="0"/>
              <a:t>Understand your </a:t>
            </a:r>
            <a:r>
              <a:rPr lang="en-US" dirty="0" smtClean="0"/>
              <a:t>strengths, value proposition</a:t>
            </a:r>
            <a:endParaRPr lang="en-US" dirty="0"/>
          </a:p>
          <a:p>
            <a:r>
              <a:rPr lang="en-US" dirty="0"/>
              <a:t>Position sharply</a:t>
            </a:r>
          </a:p>
          <a:p>
            <a:r>
              <a:rPr lang="en-US" dirty="0"/>
              <a:t>Focus on uniqueness / differences </a:t>
            </a:r>
          </a:p>
          <a:p>
            <a:r>
              <a:rPr lang="en-US" dirty="0" smtClean="0"/>
              <a:t>Get Pricing Right - Free ?</a:t>
            </a:r>
          </a:p>
          <a:p>
            <a:r>
              <a:rPr lang="en-US" dirty="0" smtClean="0"/>
              <a:t>Low Price – Go for Penetration ?</a:t>
            </a:r>
          </a:p>
          <a:p>
            <a:r>
              <a:rPr lang="en-US" dirty="0" smtClean="0"/>
              <a:t>Get Distribution Right – Direct, Channels, Partners </a:t>
            </a:r>
            <a:r>
              <a:rPr lang="en-US" dirty="0" err="1" smtClean="0"/>
              <a:t>etx</a:t>
            </a:r>
            <a:endParaRPr lang="en-US" dirty="0" smtClean="0"/>
          </a:p>
          <a:p>
            <a:r>
              <a:rPr lang="en-US" dirty="0" smtClean="0"/>
              <a:t>Get Marketing Right – Promotion, Packaging </a:t>
            </a:r>
            <a:r>
              <a:rPr lang="en-US" dirty="0" err="1" smtClean="0"/>
              <a:t>etx</a:t>
            </a:r>
            <a:endParaRPr lang="en-US" dirty="0" smtClean="0"/>
          </a:p>
          <a:p>
            <a:r>
              <a:rPr lang="en-US" dirty="0" smtClean="0"/>
              <a:t>Get Servicing Right</a:t>
            </a:r>
          </a:p>
          <a:p>
            <a:r>
              <a:rPr lang="en-US" dirty="0" smtClean="0"/>
              <a:t>Sell yourself - Spend time in the market </a:t>
            </a:r>
          </a:p>
          <a:p>
            <a:r>
              <a:rPr lang="en-US" dirty="0" smtClean="0"/>
              <a:t>Be easy to find </a:t>
            </a:r>
          </a:p>
          <a:p>
            <a:r>
              <a:rPr lang="en-US" dirty="0" smtClean="0"/>
              <a:t>Target everyone to start with – contradictory ?</a:t>
            </a:r>
          </a:p>
          <a:p>
            <a:r>
              <a:rPr lang="en-US" dirty="0" smtClean="0"/>
              <a:t>Iterate</a:t>
            </a:r>
          </a:p>
          <a:p>
            <a:r>
              <a:rPr lang="en-US" dirty="0" smtClean="0"/>
              <a:t>Scale up </a:t>
            </a:r>
            <a:r>
              <a:rPr lang="en-US" dirty="0" err="1" smtClean="0"/>
              <a:t>whats</a:t>
            </a:r>
            <a:r>
              <a:rPr lang="en-US" dirty="0" smtClean="0"/>
              <a:t> working</a:t>
            </a:r>
          </a:p>
          <a:p>
            <a:endParaRPr lang="en-US" dirty="0" smtClean="0"/>
          </a:p>
          <a:p>
            <a:endParaRPr lang="en-US" dirty="0"/>
          </a:p>
        </p:txBody>
      </p:sp>
    </p:spTree>
    <p:extLst>
      <p:ext uri="{BB962C8B-B14F-4D97-AF65-F5344CB8AC3E}">
        <p14:creationId xmlns:p14="http://schemas.microsoft.com/office/powerpoint/2010/main" val="2282092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Going to Market </a:t>
            </a:r>
            <a:r>
              <a:rPr lang="en-US" dirty="0" err="1" smtClean="0"/>
              <a:t>esp</a:t>
            </a:r>
            <a:r>
              <a:rPr lang="en-US" dirty="0" smtClean="0"/>
              <a:t> for B2B – Tools and Tricks</a:t>
            </a:r>
            <a:endParaRPr lang="en-US" dirty="0"/>
          </a:p>
        </p:txBody>
      </p:sp>
      <p:sp>
        <p:nvSpPr>
          <p:cNvPr id="3" name="Content Placeholder 2"/>
          <p:cNvSpPr>
            <a:spLocks noGrp="1"/>
          </p:cNvSpPr>
          <p:nvPr>
            <p:ph idx="1"/>
          </p:nvPr>
        </p:nvSpPr>
        <p:spPr/>
        <p:txBody>
          <a:bodyPr/>
          <a:lstStyle/>
          <a:p>
            <a:r>
              <a:rPr lang="en-US" dirty="0" smtClean="0"/>
              <a:t>Sell yourself</a:t>
            </a:r>
          </a:p>
          <a:p>
            <a:r>
              <a:rPr lang="en-US" dirty="0" smtClean="0"/>
              <a:t>Brand is built at various touch points </a:t>
            </a:r>
          </a:p>
          <a:p>
            <a:r>
              <a:rPr lang="en-US" dirty="0" smtClean="0"/>
              <a:t>If Building a sales team – Hire </a:t>
            </a:r>
            <a:r>
              <a:rPr lang="en-US" dirty="0" err="1" smtClean="0"/>
              <a:t>atleast</a:t>
            </a:r>
            <a:r>
              <a:rPr lang="en-US" dirty="0" smtClean="0"/>
              <a:t> 2 people</a:t>
            </a:r>
          </a:p>
          <a:p>
            <a:r>
              <a:rPr lang="en-US" dirty="0" smtClean="0"/>
              <a:t>Person on the spot matters</a:t>
            </a:r>
          </a:p>
          <a:p>
            <a:r>
              <a:rPr lang="en-US" dirty="0" smtClean="0"/>
              <a:t>Right reward system</a:t>
            </a:r>
          </a:p>
          <a:p>
            <a:r>
              <a:rPr lang="en-US" dirty="0" smtClean="0"/>
              <a:t>Right metrics</a:t>
            </a:r>
          </a:p>
          <a:p>
            <a:endParaRPr lang="en-US" dirty="0"/>
          </a:p>
        </p:txBody>
      </p:sp>
    </p:spTree>
    <p:extLst>
      <p:ext uri="{BB962C8B-B14F-4D97-AF65-F5344CB8AC3E}">
        <p14:creationId xmlns:p14="http://schemas.microsoft.com/office/powerpoint/2010/main" val="3450561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ea typeface="Times New Roman" panose="02020603050405020304" pitchFamily="18" charset="0"/>
              </a:rPr>
              <a:t>B2C (Business-to-Consumer) User Acquisition Strategies:</a:t>
            </a:r>
            <a:r>
              <a:rPr lang="en-US" dirty="0">
                <a:latin typeface="Times New Roman" panose="02020603050405020304" pitchFamily="18" charset="0"/>
                <a:ea typeface="Calibri" panose="020F0502020204030204" pitchFamily="34" charset="0"/>
              </a:rPr>
              <a:t/>
            </a:r>
            <a:br>
              <a:rPr lang="en-US" dirty="0">
                <a:latin typeface="Times New Roman" panose="02020603050405020304" pitchFamily="18" charset="0"/>
                <a:ea typeface="Calibri" panose="020F0502020204030204" pitchFamily="34" charset="0"/>
              </a:rPr>
            </a:br>
            <a:endParaRPr lang="en-US" dirty="0"/>
          </a:p>
        </p:txBody>
      </p:sp>
      <p:sp>
        <p:nvSpPr>
          <p:cNvPr id="3" name="Content Placeholder 2"/>
          <p:cNvSpPr>
            <a:spLocks noGrp="1"/>
          </p:cNvSpPr>
          <p:nvPr>
            <p:ph idx="1"/>
          </p:nvPr>
        </p:nvSpPr>
        <p:spPr>
          <a:xfrm>
            <a:off x="838200" y="1690688"/>
            <a:ext cx="10515600" cy="4351338"/>
          </a:xfrm>
        </p:spPr>
        <p:txBody>
          <a:bodyPr>
            <a:normAutofit/>
          </a:bodyPr>
          <a:lstStyle/>
          <a:p>
            <a:pPr marL="0" indent="0">
              <a:buNone/>
            </a:pPr>
            <a:r>
              <a:rPr lang="en-US" sz="2400" dirty="0" smtClean="0">
                <a:latin typeface="Times New Roman" panose="02020603050405020304" pitchFamily="18" charset="0"/>
                <a:ea typeface="Times New Roman" panose="02020603050405020304" pitchFamily="18" charset="0"/>
              </a:rPr>
              <a:t>Social </a:t>
            </a:r>
            <a:r>
              <a:rPr lang="en-US" sz="2400" dirty="0">
                <a:latin typeface="Times New Roman" panose="02020603050405020304" pitchFamily="18" charset="0"/>
                <a:ea typeface="Times New Roman" panose="02020603050405020304" pitchFamily="18" charset="0"/>
              </a:rPr>
              <a:t>Media </a:t>
            </a:r>
            <a:r>
              <a:rPr lang="en-US" sz="2400" dirty="0" smtClean="0">
                <a:latin typeface="Times New Roman" panose="02020603050405020304" pitchFamily="18" charset="0"/>
                <a:ea typeface="Times New Roman" panose="02020603050405020304" pitchFamily="18" charset="0"/>
              </a:rPr>
              <a:t>Advertising</a:t>
            </a:r>
          </a:p>
          <a:p>
            <a:pPr marL="0" indent="0">
              <a:buNone/>
            </a:pPr>
            <a:r>
              <a:rPr lang="en-US" sz="2400" dirty="0" smtClean="0">
                <a:latin typeface="Times New Roman" panose="02020603050405020304" pitchFamily="18" charset="0"/>
                <a:ea typeface="Times New Roman" panose="02020603050405020304" pitchFamily="18" charset="0"/>
              </a:rPr>
              <a:t>Influencer Marketing</a:t>
            </a:r>
            <a:endParaRPr lang="en-US" sz="2400" dirty="0">
              <a:latin typeface="Times New Roman" panose="02020603050405020304" pitchFamily="18" charset="0"/>
              <a:ea typeface="Times New Roman" panose="02020603050405020304" pitchFamily="18" charset="0"/>
            </a:endParaRPr>
          </a:p>
          <a:p>
            <a:pPr marL="0" indent="0">
              <a:buNone/>
            </a:pPr>
            <a:r>
              <a:rPr lang="en-US" sz="2400" dirty="0" smtClean="0">
                <a:latin typeface="Times New Roman" panose="02020603050405020304" pitchFamily="18" charset="0"/>
                <a:ea typeface="Times New Roman" panose="02020603050405020304" pitchFamily="18" charset="0"/>
              </a:rPr>
              <a:t>Referral Programs.</a:t>
            </a:r>
            <a:endParaRPr lang="en-US" sz="2400" dirty="0">
              <a:latin typeface="Times New Roman" panose="02020603050405020304" pitchFamily="18" charset="0"/>
              <a:ea typeface="Calibri" panose="020F0502020204030204" pitchFamily="34" charset="0"/>
            </a:endParaRPr>
          </a:p>
          <a:p>
            <a:pPr marL="0" indent="0">
              <a:buNone/>
            </a:pPr>
            <a:r>
              <a:rPr lang="en-US" sz="2400" dirty="0" smtClean="0">
                <a:latin typeface="Times New Roman" panose="02020603050405020304" pitchFamily="18" charset="0"/>
                <a:ea typeface="Times New Roman" panose="02020603050405020304" pitchFamily="18" charset="0"/>
              </a:rPr>
              <a:t>Content </a:t>
            </a:r>
            <a:r>
              <a:rPr lang="en-US" sz="2400" dirty="0">
                <a:latin typeface="Times New Roman" panose="02020603050405020304" pitchFamily="18" charset="0"/>
                <a:ea typeface="Times New Roman" panose="02020603050405020304" pitchFamily="18" charset="0"/>
              </a:rPr>
              <a:t>Creation and </a:t>
            </a:r>
            <a:r>
              <a:rPr lang="en-US" sz="2400" dirty="0" smtClean="0">
                <a:latin typeface="Times New Roman" panose="02020603050405020304" pitchFamily="18" charset="0"/>
                <a:ea typeface="Times New Roman" panose="02020603050405020304" pitchFamily="18" charset="0"/>
              </a:rPr>
              <a:t>Sharing</a:t>
            </a:r>
            <a:endParaRPr lang="en-US" sz="2400" dirty="0">
              <a:latin typeface="Times New Roman" panose="02020603050405020304" pitchFamily="18" charset="0"/>
              <a:ea typeface="Calibri" panose="020F0502020204030204" pitchFamily="34" charset="0"/>
            </a:endParaRPr>
          </a:p>
          <a:p>
            <a:pPr marL="0" indent="0">
              <a:buNone/>
            </a:pPr>
            <a:r>
              <a:rPr lang="en-US" sz="2400" dirty="0" smtClean="0">
                <a:latin typeface="Times New Roman" panose="02020603050405020304" pitchFamily="18" charset="0"/>
                <a:ea typeface="Calibri" panose="020F0502020204030204" pitchFamily="34" charset="0"/>
              </a:rPr>
              <a:t>SEM, SEO, Email Marketing, ASO</a:t>
            </a:r>
          </a:p>
          <a:p>
            <a:pPr marL="0" indent="0">
              <a:buNone/>
            </a:pPr>
            <a:r>
              <a:rPr lang="en-US" sz="2400" dirty="0" smtClean="0">
                <a:latin typeface="Times New Roman" panose="02020603050405020304" pitchFamily="18" charset="0"/>
                <a:ea typeface="Calibri" panose="020F0502020204030204" pitchFamily="34" charset="0"/>
              </a:rPr>
              <a:t>Freemium, </a:t>
            </a:r>
          </a:p>
          <a:p>
            <a:pPr marL="0" indent="0">
              <a:buNone/>
            </a:pPr>
            <a:r>
              <a:rPr lang="en-US" sz="2400" dirty="0" smtClean="0">
                <a:latin typeface="Times New Roman" panose="02020603050405020304" pitchFamily="18" charset="0"/>
                <a:ea typeface="Calibri" panose="020F0502020204030204" pitchFamily="34" charset="0"/>
              </a:rPr>
              <a:t>Community</a:t>
            </a:r>
          </a:p>
          <a:p>
            <a:pPr marL="0" indent="0">
              <a:buNone/>
            </a:pPr>
            <a:r>
              <a:rPr lang="en-US" sz="2400" dirty="0" smtClean="0">
                <a:latin typeface="Times New Roman" panose="02020603050405020304" pitchFamily="18" charset="0"/>
                <a:ea typeface="Calibri" panose="020F0502020204030204" pitchFamily="34" charset="0"/>
              </a:rPr>
              <a:t>Marketplaces</a:t>
            </a:r>
          </a:p>
          <a:p>
            <a:pPr marL="0" indent="0">
              <a:buNone/>
            </a:pPr>
            <a:r>
              <a:rPr lang="en-US" sz="2400" dirty="0" smtClean="0">
                <a:latin typeface="Times New Roman" panose="02020603050405020304" pitchFamily="18" charset="0"/>
                <a:ea typeface="Calibri" panose="020F0502020204030204" pitchFamily="34" charset="0"/>
              </a:rPr>
              <a:t>Physical presence / Hybrid</a:t>
            </a:r>
          </a:p>
          <a:p>
            <a:pPr marL="0" indent="0">
              <a:buNone/>
            </a:pPr>
            <a:endParaRPr lang="en-US" dirty="0">
              <a:latin typeface="Times New Roman" panose="02020603050405020304" pitchFamily="18" charset="0"/>
              <a:ea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val="798988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anose="02020603050405020304" pitchFamily="18" charset="0"/>
                <a:ea typeface="Times New Roman" panose="02020603050405020304" pitchFamily="18" charset="0"/>
              </a:rPr>
              <a:t>Business-to-Business </a:t>
            </a:r>
            <a:r>
              <a:rPr lang="en-US" dirty="0">
                <a:latin typeface="Times New Roman" panose="02020603050405020304" pitchFamily="18" charset="0"/>
                <a:ea typeface="Times New Roman" panose="02020603050405020304" pitchFamily="18" charset="0"/>
              </a:rPr>
              <a:t>User Acquisition Strategies:</a:t>
            </a:r>
            <a:r>
              <a:rPr lang="en-US" dirty="0">
                <a:latin typeface="Times New Roman" panose="02020603050405020304" pitchFamily="18" charset="0"/>
                <a:ea typeface="Calibri" panose="020F0502020204030204" pitchFamily="34" charset="0"/>
              </a:rPr>
              <a:t/>
            </a:r>
            <a:br>
              <a:rPr lang="en-US" dirty="0">
                <a:latin typeface="Times New Roman" panose="02020603050405020304" pitchFamily="18" charset="0"/>
                <a:ea typeface="Calibri" panose="020F0502020204030204" pitchFamily="34" charset="0"/>
              </a:rPr>
            </a:br>
            <a:endParaRPr lang="en-US" dirty="0"/>
          </a:p>
        </p:txBody>
      </p:sp>
      <p:sp>
        <p:nvSpPr>
          <p:cNvPr id="3" name="Content Placeholder 2"/>
          <p:cNvSpPr>
            <a:spLocks noGrp="1"/>
          </p:cNvSpPr>
          <p:nvPr>
            <p:ph idx="1"/>
          </p:nvPr>
        </p:nvSpPr>
        <p:spPr/>
        <p:txBody>
          <a:bodyPr>
            <a:normAutofit/>
          </a:bodyPr>
          <a:lstStyle/>
          <a:p>
            <a:pPr marL="0" indent="0">
              <a:buNone/>
            </a:pPr>
            <a:r>
              <a:rPr lang="en-US" sz="2400" dirty="0" smtClean="0">
                <a:latin typeface="Times New Roman" panose="02020603050405020304" pitchFamily="18" charset="0"/>
                <a:ea typeface="Times New Roman" panose="02020603050405020304" pitchFamily="18" charset="0"/>
              </a:rPr>
              <a:t>Content Marketing</a:t>
            </a:r>
            <a:endParaRPr lang="en-US" sz="2400" dirty="0">
              <a:latin typeface="Times New Roman" panose="02020603050405020304" pitchFamily="18" charset="0"/>
              <a:ea typeface="Times New Roman" panose="02020603050405020304" pitchFamily="18" charset="0"/>
            </a:endParaRPr>
          </a:p>
          <a:p>
            <a:pPr marL="0" indent="0">
              <a:buNone/>
            </a:pPr>
            <a:r>
              <a:rPr lang="en-US" sz="2400" dirty="0" smtClean="0">
                <a:latin typeface="Times New Roman" panose="02020603050405020304" pitchFamily="18" charset="0"/>
                <a:ea typeface="Times New Roman" panose="02020603050405020304" pitchFamily="18" charset="0"/>
              </a:rPr>
              <a:t>Inbound Marketing / SEM / Newsletters</a:t>
            </a:r>
          </a:p>
          <a:p>
            <a:pPr marL="0" indent="0">
              <a:buNone/>
            </a:pPr>
            <a:r>
              <a:rPr lang="en-US" sz="2400" dirty="0" smtClean="0">
                <a:latin typeface="Times New Roman" panose="02020603050405020304" pitchFamily="18" charset="0"/>
                <a:ea typeface="Times New Roman" panose="02020603050405020304" pitchFamily="18" charset="0"/>
              </a:rPr>
              <a:t>Networking </a:t>
            </a:r>
            <a:r>
              <a:rPr lang="en-US" sz="2400" dirty="0">
                <a:latin typeface="Times New Roman" panose="02020603050405020304" pitchFamily="18" charset="0"/>
                <a:ea typeface="Times New Roman" panose="02020603050405020304" pitchFamily="18" charset="0"/>
              </a:rPr>
              <a:t>and </a:t>
            </a:r>
            <a:r>
              <a:rPr lang="en-US" sz="2400" dirty="0" smtClean="0">
                <a:latin typeface="Times New Roman" panose="02020603050405020304" pitchFamily="18" charset="0"/>
                <a:ea typeface="Times New Roman" panose="02020603050405020304" pitchFamily="18" charset="0"/>
              </a:rPr>
              <a:t>Partnerships</a:t>
            </a:r>
          </a:p>
          <a:p>
            <a:pPr marL="0" indent="0">
              <a:buNone/>
            </a:pPr>
            <a:r>
              <a:rPr lang="en-US" sz="2400" dirty="0" smtClean="0">
                <a:latin typeface="Times New Roman" panose="02020603050405020304" pitchFamily="18" charset="0"/>
                <a:ea typeface="Times New Roman" panose="02020603050405020304" pitchFamily="18" charset="0"/>
              </a:rPr>
              <a:t>Events </a:t>
            </a:r>
            <a:r>
              <a:rPr lang="en-US" sz="2400" dirty="0">
                <a:latin typeface="Times New Roman" panose="02020603050405020304" pitchFamily="18" charset="0"/>
                <a:ea typeface="Times New Roman" panose="02020603050405020304" pitchFamily="18" charset="0"/>
              </a:rPr>
              <a:t>and </a:t>
            </a:r>
            <a:r>
              <a:rPr lang="en-US" sz="2400" dirty="0" smtClean="0">
                <a:latin typeface="Times New Roman" panose="02020603050405020304" pitchFamily="18" charset="0"/>
                <a:ea typeface="Times New Roman" panose="02020603050405020304" pitchFamily="18" charset="0"/>
              </a:rPr>
              <a:t>Conferences</a:t>
            </a:r>
          </a:p>
          <a:p>
            <a:pPr marL="0" indent="0">
              <a:buNone/>
            </a:pPr>
            <a:r>
              <a:rPr lang="en-US" sz="2400" dirty="0" smtClean="0">
                <a:latin typeface="Times New Roman" panose="02020603050405020304" pitchFamily="18" charset="0"/>
                <a:ea typeface="Times New Roman" panose="02020603050405020304" pitchFamily="18" charset="0"/>
              </a:rPr>
              <a:t>Account-Based </a:t>
            </a:r>
            <a:r>
              <a:rPr lang="en-US" sz="2400" dirty="0">
                <a:latin typeface="Times New Roman" panose="02020603050405020304" pitchFamily="18" charset="0"/>
                <a:ea typeface="Times New Roman" panose="02020603050405020304" pitchFamily="18" charset="0"/>
              </a:rPr>
              <a:t>Marketing (</a:t>
            </a:r>
            <a:r>
              <a:rPr lang="en-US" sz="2400" dirty="0" smtClean="0">
                <a:latin typeface="Times New Roman" panose="02020603050405020304" pitchFamily="18" charset="0"/>
                <a:ea typeface="Times New Roman" panose="02020603050405020304" pitchFamily="18" charset="0"/>
              </a:rPr>
              <a:t>ABM</a:t>
            </a:r>
            <a:r>
              <a:rPr lang="en-US" sz="2400" dirty="0">
                <a:latin typeface="Times New Roman" panose="02020603050405020304" pitchFamily="18" charset="0"/>
                <a:ea typeface="Times New Roman" panose="02020603050405020304" pitchFamily="18" charset="0"/>
              </a:rPr>
              <a:t/>
            </a:r>
            <a:br>
              <a:rPr lang="en-US" sz="2400" dirty="0">
                <a:latin typeface="Times New Roman" panose="02020603050405020304" pitchFamily="18" charset="0"/>
                <a:ea typeface="Times New Roman" panose="02020603050405020304" pitchFamily="18" charset="0"/>
              </a:rPr>
            </a:br>
            <a:r>
              <a:rPr lang="en-US" sz="2400" dirty="0" smtClean="0">
                <a:latin typeface="Times New Roman" panose="02020603050405020304" pitchFamily="18" charset="0"/>
                <a:ea typeface="Times New Roman" panose="02020603050405020304" pitchFamily="18" charset="0"/>
              </a:rPr>
              <a:t>Sales teams</a:t>
            </a:r>
            <a:r>
              <a:rPr lang="en-US" sz="2400" dirty="0">
                <a:latin typeface="Times New Roman" panose="02020603050405020304" pitchFamily="18" charset="0"/>
                <a:ea typeface="Times New Roman" panose="02020603050405020304" pitchFamily="18" charset="0"/>
              </a:rPr>
              <a:t> </a:t>
            </a:r>
            <a:endParaRPr lang="en-US" sz="2400" dirty="0" smtClean="0">
              <a:latin typeface="Times New Roman" panose="02020603050405020304" pitchFamily="18" charset="0"/>
              <a:ea typeface="Times New Roman" panose="02020603050405020304" pitchFamily="18" charset="0"/>
            </a:endParaRPr>
          </a:p>
          <a:p>
            <a:pPr marL="0" indent="0">
              <a:buNone/>
            </a:pPr>
            <a:r>
              <a:rPr lang="en-US" sz="2400" dirty="0" smtClean="0">
                <a:latin typeface="Times New Roman" panose="02020603050405020304" pitchFamily="18" charset="0"/>
                <a:ea typeface="Times New Roman" panose="02020603050405020304" pitchFamily="18" charset="0"/>
              </a:rPr>
              <a:t>Smooth Onboarding and Client Servicing</a:t>
            </a:r>
            <a:r>
              <a:rPr lang="en-US" sz="2400" dirty="0">
                <a:latin typeface="Times New Roman" panose="02020603050405020304" pitchFamily="18" charset="0"/>
                <a:ea typeface="Times New Roman" panose="02020603050405020304" pitchFamily="18" charset="0"/>
              </a:rPr>
              <a:t> </a:t>
            </a:r>
            <a:endParaRPr lang="en-US" sz="2400" dirty="0">
              <a:latin typeface="Times New Roman" panose="02020603050405020304" pitchFamily="18" charset="0"/>
              <a:ea typeface="Calibri" panose="020F0502020204030204" pitchFamily="34" charset="0"/>
            </a:endParaRPr>
          </a:p>
          <a:p>
            <a:endParaRPr lang="en-US" sz="2400" dirty="0"/>
          </a:p>
        </p:txBody>
      </p:sp>
    </p:spTree>
    <p:extLst>
      <p:ext uri="{BB962C8B-B14F-4D97-AF65-F5344CB8AC3E}">
        <p14:creationId xmlns:p14="http://schemas.microsoft.com/office/powerpoint/2010/main" val="3988167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ea typeface="Times New Roman" panose="02020603050405020304" pitchFamily="18" charset="0"/>
              </a:rPr>
              <a:t>C2C (Consumer-to-Consumer) User Acquisition Strategies:</a:t>
            </a:r>
            <a:r>
              <a:rPr lang="en-US" dirty="0">
                <a:latin typeface="Times New Roman" panose="02020603050405020304" pitchFamily="18" charset="0"/>
                <a:ea typeface="Calibri" panose="020F0502020204030204" pitchFamily="34" charset="0"/>
              </a:rPr>
              <a:t/>
            </a:r>
            <a:br>
              <a:rPr lang="en-US" dirty="0">
                <a:latin typeface="Times New Roman" panose="02020603050405020304" pitchFamily="18" charset="0"/>
                <a:ea typeface="Calibri" panose="020F0502020204030204" pitchFamily="34" charset="0"/>
              </a:rPr>
            </a:br>
            <a:endParaRPr lang="en-US" dirty="0"/>
          </a:p>
        </p:txBody>
      </p:sp>
      <p:sp>
        <p:nvSpPr>
          <p:cNvPr id="3" name="Content Placeholder 2"/>
          <p:cNvSpPr>
            <a:spLocks noGrp="1"/>
          </p:cNvSpPr>
          <p:nvPr>
            <p:ph idx="1"/>
          </p:nvPr>
        </p:nvSpPr>
        <p:spPr/>
        <p:txBody>
          <a:bodyPr>
            <a:normAutofit/>
          </a:bodyPr>
          <a:lstStyle/>
          <a:p>
            <a:pPr marL="0" indent="0">
              <a:buNone/>
            </a:pPr>
            <a:r>
              <a:rPr lang="en-US" sz="2400" dirty="0" smtClean="0">
                <a:latin typeface="Times New Roman" panose="02020603050405020304" pitchFamily="18" charset="0"/>
                <a:ea typeface="Times New Roman" panose="02020603050405020304" pitchFamily="18" charset="0"/>
              </a:rPr>
              <a:t>Word </a:t>
            </a:r>
            <a:r>
              <a:rPr lang="en-US" sz="2400" dirty="0">
                <a:latin typeface="Times New Roman" panose="02020603050405020304" pitchFamily="18" charset="0"/>
                <a:ea typeface="Times New Roman" panose="02020603050405020304" pitchFamily="18" charset="0"/>
              </a:rPr>
              <a:t>of </a:t>
            </a:r>
            <a:r>
              <a:rPr lang="en-US" sz="2400" dirty="0" smtClean="0">
                <a:latin typeface="Times New Roman" panose="02020603050405020304" pitchFamily="18" charset="0"/>
                <a:ea typeface="Times New Roman" panose="02020603050405020304" pitchFamily="18" charset="0"/>
              </a:rPr>
              <a:t>Mouth</a:t>
            </a:r>
          </a:p>
          <a:p>
            <a:pPr marL="0" indent="0">
              <a:buNone/>
            </a:pPr>
            <a:r>
              <a:rPr lang="en-US" sz="2400" dirty="0" smtClean="0">
                <a:latin typeface="Times New Roman" panose="02020603050405020304" pitchFamily="18" charset="0"/>
                <a:ea typeface="Times New Roman" panose="02020603050405020304" pitchFamily="18" charset="0"/>
              </a:rPr>
              <a:t>Marketplace Optimization</a:t>
            </a:r>
          </a:p>
          <a:p>
            <a:pPr marL="0" indent="0">
              <a:buNone/>
            </a:pPr>
            <a:r>
              <a:rPr lang="en-US" sz="2400" dirty="0" smtClean="0">
                <a:latin typeface="Times New Roman" panose="02020603050405020304" pitchFamily="18" charset="0"/>
                <a:ea typeface="Times New Roman" panose="02020603050405020304" pitchFamily="18" charset="0"/>
              </a:rPr>
              <a:t>Community Building</a:t>
            </a:r>
          </a:p>
          <a:p>
            <a:pPr marL="0" indent="0">
              <a:buNone/>
            </a:pPr>
            <a:r>
              <a:rPr lang="en-US" sz="2400" dirty="0" smtClean="0">
                <a:latin typeface="Times New Roman" panose="02020603050405020304" pitchFamily="18" charset="0"/>
                <a:ea typeface="Times New Roman" panose="02020603050405020304" pitchFamily="18" charset="0"/>
              </a:rPr>
              <a:t>Trust </a:t>
            </a:r>
            <a:r>
              <a:rPr lang="en-US" sz="2400" dirty="0">
                <a:latin typeface="Times New Roman" panose="02020603050405020304" pitchFamily="18" charset="0"/>
                <a:ea typeface="Times New Roman" panose="02020603050405020304" pitchFamily="18" charset="0"/>
              </a:rPr>
              <a:t>and Safety </a:t>
            </a:r>
            <a:r>
              <a:rPr lang="en-US" sz="2400" dirty="0" smtClean="0">
                <a:latin typeface="Times New Roman" panose="02020603050405020304" pitchFamily="18" charset="0"/>
                <a:ea typeface="Times New Roman" panose="02020603050405020304" pitchFamily="18" charset="0"/>
              </a:rPr>
              <a:t>Measures</a:t>
            </a:r>
          </a:p>
          <a:p>
            <a:pPr marL="0" indent="0">
              <a:buNone/>
            </a:pPr>
            <a:r>
              <a:rPr lang="en-US" sz="2400" dirty="0" err="1" smtClean="0">
                <a:latin typeface="Times New Roman" panose="02020603050405020304" pitchFamily="18" charset="0"/>
                <a:ea typeface="Times New Roman" panose="02020603050405020304" pitchFamily="18" charset="0"/>
              </a:rPr>
              <a:t>Incentivised</a:t>
            </a:r>
            <a:r>
              <a:rPr lang="en-US" sz="2400" dirty="0" smtClean="0">
                <a:latin typeface="Times New Roman" panose="02020603050405020304" pitchFamily="18" charset="0"/>
                <a:ea typeface="Times New Roman" panose="02020603050405020304" pitchFamily="18" charset="0"/>
              </a:rPr>
              <a:t> Sharing</a:t>
            </a:r>
            <a:endParaRPr lang="en-US" sz="2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88707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dirty="0" smtClean="0"/>
              <a:t>Growth hacking </a:t>
            </a:r>
            <a:r>
              <a:rPr lang="en-US" sz="2700" dirty="0"/>
              <a:t>refers to unconventional and innovative strategies used by startups and businesses to achieve rapid and sustainable </a:t>
            </a:r>
            <a:r>
              <a:rPr lang="en-US" sz="2700" dirty="0" smtClean="0"/>
              <a:t>growth</a:t>
            </a:r>
            <a:r>
              <a:rPr lang="en-US" sz="2700" dirty="0"/>
              <a:t> </a:t>
            </a:r>
            <a:r>
              <a:rPr lang="en-US" sz="2700" dirty="0" smtClean="0"/>
              <a:t> </a:t>
            </a:r>
            <a:r>
              <a:rPr lang="en-US" sz="2700" dirty="0"/>
              <a:t/>
            </a:r>
            <a:br>
              <a:rPr lang="en-US" sz="2700" dirty="0"/>
            </a:br>
            <a:endParaRPr lang="en-US" sz="2700" dirty="0"/>
          </a:p>
        </p:txBody>
      </p:sp>
      <p:sp>
        <p:nvSpPr>
          <p:cNvPr id="3" name="Content Placeholder 2"/>
          <p:cNvSpPr>
            <a:spLocks noGrp="1"/>
          </p:cNvSpPr>
          <p:nvPr>
            <p:ph idx="1"/>
          </p:nvPr>
        </p:nvSpPr>
        <p:spPr/>
        <p:txBody>
          <a:bodyPr>
            <a:normAutofit/>
          </a:bodyPr>
          <a:lstStyle/>
          <a:p>
            <a:pPr marL="0" indent="0">
              <a:buNone/>
            </a:pPr>
            <a:r>
              <a:rPr lang="en-US" sz="1700" dirty="0" smtClean="0"/>
              <a:t>1 Viral </a:t>
            </a:r>
            <a:r>
              <a:rPr lang="en-US" sz="1700" dirty="0"/>
              <a:t>Marketing: Create campaigns or content that encourages users to share with their networks, resulting in exponential </a:t>
            </a:r>
            <a:r>
              <a:rPr lang="en-US" sz="1700" dirty="0" smtClean="0"/>
              <a:t>growth</a:t>
            </a:r>
          </a:p>
          <a:p>
            <a:pPr marL="342900" indent="-342900">
              <a:buAutoNum type="arabicPlain"/>
            </a:pPr>
            <a:endParaRPr lang="en-US" sz="1700" dirty="0"/>
          </a:p>
          <a:p>
            <a:pPr marL="0" indent="0">
              <a:buNone/>
            </a:pPr>
            <a:r>
              <a:rPr lang="en-US" sz="1700" dirty="0" smtClean="0"/>
              <a:t>2  Product-Led </a:t>
            </a:r>
            <a:r>
              <a:rPr lang="en-US" sz="1700" dirty="0"/>
              <a:t>Growth: Focus on creating a product that inherently drives user acquisition and retention through its usability, features, and value proposition. </a:t>
            </a:r>
            <a:r>
              <a:rPr lang="en-US" sz="1700" dirty="0" smtClean="0"/>
              <a:t>- </a:t>
            </a:r>
            <a:r>
              <a:rPr lang="en-US" sz="1700" dirty="0" err="1" smtClean="0"/>
              <a:t>Linkedin</a:t>
            </a:r>
            <a:r>
              <a:rPr lang="en-US" sz="1700" dirty="0" smtClean="0"/>
              <a:t> Networking</a:t>
            </a:r>
          </a:p>
          <a:p>
            <a:pPr marL="0" indent="0">
              <a:buNone/>
            </a:pPr>
            <a:endParaRPr lang="en-US" sz="1700" dirty="0"/>
          </a:p>
          <a:p>
            <a:pPr marL="0" indent="0">
              <a:buNone/>
            </a:pPr>
            <a:r>
              <a:rPr lang="en-US" sz="1700" dirty="0" smtClean="0"/>
              <a:t>3 A/B </a:t>
            </a:r>
            <a:r>
              <a:rPr lang="en-US" sz="1700" dirty="0"/>
              <a:t>Testing and Optimization: Continuously test different variations of landing pages, emails, ads, and other marketing assets to identify what resonates best with your audience and drives higher conversion </a:t>
            </a:r>
            <a:r>
              <a:rPr lang="en-US" sz="1700" dirty="0" smtClean="0"/>
              <a:t>rates – Chat Bot Based Registration in Naukri</a:t>
            </a:r>
            <a:endParaRPr lang="en-US" sz="1700" dirty="0"/>
          </a:p>
          <a:p>
            <a:pPr marL="0" indent="0">
              <a:buNone/>
            </a:pPr>
            <a:r>
              <a:rPr lang="en-US" sz="1700" dirty="0"/>
              <a:t>    </a:t>
            </a:r>
          </a:p>
        </p:txBody>
      </p:sp>
    </p:spTree>
    <p:extLst>
      <p:ext uri="{BB962C8B-B14F-4D97-AF65-F5344CB8AC3E}">
        <p14:creationId xmlns:p14="http://schemas.microsoft.com/office/powerpoint/2010/main" val="1764991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Growth Hacking</a:t>
            </a:r>
            <a:endParaRPr lang="en-US" dirty="0"/>
          </a:p>
        </p:txBody>
      </p:sp>
      <p:sp>
        <p:nvSpPr>
          <p:cNvPr id="3" name="Content Placeholder 2"/>
          <p:cNvSpPr>
            <a:spLocks noGrp="1"/>
          </p:cNvSpPr>
          <p:nvPr>
            <p:ph idx="1"/>
          </p:nvPr>
        </p:nvSpPr>
        <p:spPr/>
        <p:txBody>
          <a:bodyPr>
            <a:normAutofit/>
          </a:bodyPr>
          <a:lstStyle/>
          <a:p>
            <a:pPr marL="0" indent="0">
              <a:buNone/>
            </a:pPr>
            <a:r>
              <a:rPr lang="en-US" sz="1600" dirty="0" smtClean="0"/>
              <a:t>4 Growth </a:t>
            </a:r>
            <a:r>
              <a:rPr lang="en-US" sz="1600" dirty="0"/>
              <a:t>Loops: Identify and exploit feedback loops within your product or business model that contribute to self-sustaining growth. </a:t>
            </a:r>
            <a:r>
              <a:rPr lang="en-US" sz="1600" dirty="0" smtClean="0"/>
              <a:t>-  Network Effect in Naukri, 99acres</a:t>
            </a:r>
            <a:endParaRPr lang="en-US" sz="1600" dirty="0"/>
          </a:p>
          <a:p>
            <a:pPr marL="0" indent="0">
              <a:buNone/>
            </a:pPr>
            <a:endParaRPr lang="en-US" sz="1600" dirty="0" smtClean="0"/>
          </a:p>
          <a:p>
            <a:pPr marL="0" indent="0">
              <a:buNone/>
            </a:pPr>
            <a:r>
              <a:rPr lang="en-US" sz="1600" dirty="0" smtClean="0"/>
              <a:t>5 Data-Driven </a:t>
            </a:r>
            <a:r>
              <a:rPr lang="en-US" sz="1600" dirty="0"/>
              <a:t>Decision Making: Use analytics tools to gather data on user behavior, engagement, and conversion metrics. Analyze this data to uncover insights and make informed decisions about where to focus your efforts for maximum </a:t>
            </a:r>
            <a:r>
              <a:rPr lang="en-US" sz="1600" dirty="0" smtClean="0"/>
              <a:t>impact</a:t>
            </a:r>
            <a:r>
              <a:rPr lang="en-US" sz="1600" dirty="0"/>
              <a:t> </a:t>
            </a:r>
            <a:r>
              <a:rPr lang="en-US" sz="1600" dirty="0" smtClean="0"/>
              <a:t>– Predictive Analytics in Candidate services in Naukri</a:t>
            </a:r>
          </a:p>
          <a:p>
            <a:pPr marL="0" indent="0">
              <a:buNone/>
            </a:pPr>
            <a:endParaRPr lang="en-US" sz="1600" dirty="0"/>
          </a:p>
          <a:p>
            <a:pPr marL="0" indent="0">
              <a:buNone/>
            </a:pPr>
            <a:r>
              <a:rPr lang="en-US" sz="1600" dirty="0" smtClean="0"/>
              <a:t>6 Partnerships </a:t>
            </a:r>
            <a:r>
              <a:rPr lang="en-US" sz="1600" dirty="0"/>
              <a:t>and Co-marketing: Collaborate with other businesses, influencers, or platforms to reach new audiences and leverage their existing customer base for mutual </a:t>
            </a:r>
            <a:r>
              <a:rPr lang="en-US" sz="1600" dirty="0" smtClean="0"/>
              <a:t>benefit  </a:t>
            </a:r>
            <a:r>
              <a:rPr lang="en-US" sz="1600" dirty="0" err="1" smtClean="0"/>
              <a:t>VodaFone</a:t>
            </a:r>
            <a:r>
              <a:rPr lang="en-US" sz="1600" dirty="0"/>
              <a:t> </a:t>
            </a:r>
            <a:r>
              <a:rPr lang="en-US" sz="1600" dirty="0" smtClean="0"/>
              <a:t>tie up in </a:t>
            </a:r>
            <a:r>
              <a:rPr lang="en-US" sz="1600" dirty="0" err="1" smtClean="0"/>
              <a:t>Jobhai</a:t>
            </a:r>
            <a:r>
              <a:rPr lang="en-US" sz="1600" dirty="0" smtClean="0"/>
              <a:t>, </a:t>
            </a:r>
            <a:r>
              <a:rPr lang="en-US" sz="1600" dirty="0" err="1" smtClean="0"/>
              <a:t>JioCinema</a:t>
            </a:r>
            <a:r>
              <a:rPr lang="en-US" sz="1600" dirty="0" smtClean="0"/>
              <a:t> tie up in </a:t>
            </a:r>
            <a:r>
              <a:rPr lang="en-US" sz="1600" dirty="0" err="1" smtClean="0"/>
              <a:t>Jeevansathi</a:t>
            </a:r>
            <a:endParaRPr lang="en-US" sz="1600" dirty="0"/>
          </a:p>
          <a:p>
            <a:pPr marL="0" indent="0">
              <a:buNone/>
            </a:pPr>
            <a:endParaRPr lang="en-US" sz="1600" dirty="0" smtClean="0"/>
          </a:p>
          <a:p>
            <a:pPr marL="0" indent="0">
              <a:buNone/>
            </a:pPr>
            <a:r>
              <a:rPr lang="en-US" sz="1600" dirty="0" smtClean="0"/>
              <a:t>7 Innovative </a:t>
            </a:r>
            <a:r>
              <a:rPr lang="en-US" sz="1600" dirty="0"/>
              <a:t>Content Marketing: Create unique and valuable content that captures attention and drives organic traffic</a:t>
            </a:r>
            <a:r>
              <a:rPr lang="en-US" sz="1600" dirty="0" smtClean="0"/>
              <a:t>. Jackie Shroff and 99acres, Content marketing with influencers in </a:t>
            </a:r>
            <a:r>
              <a:rPr lang="en-US" sz="1600" dirty="0" err="1" smtClean="0"/>
              <a:t>Jeevansathi</a:t>
            </a:r>
            <a:r>
              <a:rPr lang="en-US" sz="1600" dirty="0" smtClean="0"/>
              <a:t>, Aisle</a:t>
            </a:r>
            <a:endParaRPr lang="en-US" sz="1600" dirty="0"/>
          </a:p>
          <a:p>
            <a:pPr marL="0" indent="0">
              <a:buNone/>
            </a:pPr>
            <a:r>
              <a:rPr lang="en-US" sz="1600" dirty="0"/>
              <a:t>     </a:t>
            </a:r>
          </a:p>
        </p:txBody>
      </p:sp>
    </p:spTree>
    <p:extLst>
      <p:ext uri="{BB962C8B-B14F-4D97-AF65-F5344CB8AC3E}">
        <p14:creationId xmlns:p14="http://schemas.microsoft.com/office/powerpoint/2010/main" val="1130228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Growth Hacking</a:t>
            </a:r>
            <a:endParaRPr lang="en-US" dirty="0"/>
          </a:p>
        </p:txBody>
      </p:sp>
      <p:sp>
        <p:nvSpPr>
          <p:cNvPr id="3" name="Content Placeholder 2"/>
          <p:cNvSpPr>
            <a:spLocks noGrp="1"/>
          </p:cNvSpPr>
          <p:nvPr>
            <p:ph idx="1"/>
          </p:nvPr>
        </p:nvSpPr>
        <p:spPr/>
        <p:txBody>
          <a:bodyPr>
            <a:normAutofit/>
          </a:bodyPr>
          <a:lstStyle/>
          <a:p>
            <a:pPr marL="0" indent="0">
              <a:buNone/>
            </a:pPr>
            <a:r>
              <a:rPr lang="en-US" sz="1600" dirty="0" smtClean="0"/>
              <a:t>8 Automation </a:t>
            </a:r>
            <a:r>
              <a:rPr lang="en-US" sz="1600" dirty="0"/>
              <a:t>and Scalability: Implement marketing automation tools and processes to streamline repetitive tasks, improve efficiency, and scale your efforts without significant manual </a:t>
            </a:r>
            <a:r>
              <a:rPr lang="en-US" sz="1600" dirty="0" smtClean="0"/>
              <a:t>interventions – Remarketing campaigns, Use of </a:t>
            </a:r>
            <a:r>
              <a:rPr lang="en-US" sz="1600" dirty="0" err="1" smtClean="0"/>
              <a:t>whatsapp</a:t>
            </a:r>
            <a:r>
              <a:rPr lang="en-US" sz="1600" dirty="0" smtClean="0"/>
              <a:t> messaging, Notifications, Job alerts in </a:t>
            </a:r>
            <a:r>
              <a:rPr lang="en-US" sz="1600" dirty="0" err="1" smtClean="0"/>
              <a:t>naukri</a:t>
            </a:r>
            <a:endParaRPr lang="en-US" sz="1600" dirty="0" smtClean="0"/>
          </a:p>
          <a:p>
            <a:pPr marL="0" indent="0">
              <a:buNone/>
            </a:pPr>
            <a:endParaRPr lang="en-US" sz="1600" dirty="0"/>
          </a:p>
          <a:p>
            <a:pPr marL="0" indent="0">
              <a:buNone/>
            </a:pPr>
            <a:r>
              <a:rPr lang="en-US" sz="1600" dirty="0" smtClean="0"/>
              <a:t>9 Customer </a:t>
            </a:r>
            <a:r>
              <a:rPr lang="en-US" sz="1600" dirty="0"/>
              <a:t>Retention Strategies: Focus on retaining existing customers by providing exceptional customer service, personalized experiences, and ongoing </a:t>
            </a:r>
            <a:r>
              <a:rPr lang="en-US" sz="1600" dirty="0" smtClean="0"/>
              <a:t>value – Jobseeker acquisition in </a:t>
            </a:r>
            <a:r>
              <a:rPr lang="en-US" sz="1600" dirty="0" err="1" smtClean="0"/>
              <a:t>Bigshyft</a:t>
            </a:r>
            <a:r>
              <a:rPr lang="en-US" sz="1600" dirty="0" smtClean="0"/>
              <a:t>, Customer analytics</a:t>
            </a:r>
            <a:endParaRPr lang="en-US" sz="1600" dirty="0"/>
          </a:p>
          <a:p>
            <a:pPr marL="0" indent="0">
              <a:buNone/>
            </a:pPr>
            <a:endParaRPr lang="en-US" sz="1600" dirty="0" smtClean="0"/>
          </a:p>
          <a:p>
            <a:pPr marL="0" indent="0">
              <a:buNone/>
            </a:pPr>
            <a:r>
              <a:rPr lang="en-US" sz="1600" dirty="0" smtClean="0"/>
              <a:t>10 Hacking </a:t>
            </a:r>
            <a:r>
              <a:rPr lang="en-US" sz="1600" dirty="0"/>
              <a:t>Growth Loopholes: Identify loopholes or underserved niches in your market and capitalize on them before competitors catch on. This could involve exploiting emerging trends, leveraging new technologies, or targeting overlooked customer </a:t>
            </a:r>
            <a:r>
              <a:rPr lang="en-US" sz="1600" dirty="0" smtClean="0"/>
              <a:t>segments  - </a:t>
            </a:r>
            <a:r>
              <a:rPr lang="en-US" sz="1600" dirty="0" err="1" smtClean="0"/>
              <a:t>iimjobs</a:t>
            </a:r>
            <a:r>
              <a:rPr lang="en-US" sz="1600" dirty="0" smtClean="0"/>
              <a:t>, </a:t>
            </a:r>
            <a:r>
              <a:rPr lang="en-US" sz="1600" dirty="0" err="1" smtClean="0"/>
              <a:t>ambitionbox</a:t>
            </a:r>
            <a:r>
              <a:rPr lang="en-US" sz="1600" dirty="0" smtClean="0"/>
              <a:t>, </a:t>
            </a:r>
            <a:r>
              <a:rPr lang="en-US" sz="1600" dirty="0" err="1" smtClean="0"/>
              <a:t>jobhai</a:t>
            </a:r>
            <a:endParaRPr lang="en-US" sz="1600" dirty="0"/>
          </a:p>
          <a:p>
            <a:endParaRPr lang="en-US" sz="1600" dirty="0"/>
          </a:p>
          <a:p>
            <a:endParaRPr lang="en-US" sz="1600" dirty="0"/>
          </a:p>
          <a:p>
            <a:endParaRPr lang="en-US" sz="1600" dirty="0"/>
          </a:p>
        </p:txBody>
      </p:sp>
    </p:spTree>
    <p:extLst>
      <p:ext uri="{BB962C8B-B14F-4D97-AF65-F5344CB8AC3E}">
        <p14:creationId xmlns:p14="http://schemas.microsoft.com/office/powerpoint/2010/main" val="281051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reference - Examples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Naukri B2B Sales effort</a:t>
            </a:r>
          </a:p>
          <a:p>
            <a:r>
              <a:rPr lang="en-US" dirty="0" err="1" smtClean="0"/>
              <a:t>Resdex</a:t>
            </a:r>
            <a:r>
              <a:rPr lang="en-US" dirty="0" smtClean="0"/>
              <a:t> Free</a:t>
            </a:r>
          </a:p>
          <a:p>
            <a:r>
              <a:rPr lang="en-US" dirty="0" smtClean="0"/>
              <a:t>Sponsoring events </a:t>
            </a:r>
          </a:p>
          <a:p>
            <a:r>
              <a:rPr lang="en-US" dirty="0" smtClean="0"/>
              <a:t>Barters with Newspapers in Naukri</a:t>
            </a:r>
          </a:p>
          <a:p>
            <a:r>
              <a:rPr lang="en-US" dirty="0" smtClean="0"/>
              <a:t>Share a Job with a friend</a:t>
            </a:r>
          </a:p>
          <a:p>
            <a:r>
              <a:rPr lang="en-US" dirty="0" smtClean="0"/>
              <a:t>HR Newsletters</a:t>
            </a:r>
          </a:p>
          <a:p>
            <a:r>
              <a:rPr lang="en-US" dirty="0" smtClean="0"/>
              <a:t>Real Estate Content in 99acres</a:t>
            </a:r>
          </a:p>
          <a:p>
            <a:r>
              <a:rPr lang="en-US" dirty="0" smtClean="0"/>
              <a:t>Reviews and Ratings in </a:t>
            </a:r>
            <a:r>
              <a:rPr lang="en-US" dirty="0" err="1" smtClean="0"/>
              <a:t>Ambitionbox</a:t>
            </a:r>
            <a:r>
              <a:rPr lang="en-US" dirty="0" smtClean="0"/>
              <a:t>, Shiksha, 99acres </a:t>
            </a:r>
            <a:endParaRPr lang="en-US" dirty="0"/>
          </a:p>
          <a:p>
            <a:r>
              <a:rPr lang="en-US" dirty="0" smtClean="0"/>
              <a:t>SEO, SEM  ASO in Naukri</a:t>
            </a:r>
          </a:p>
          <a:p>
            <a:r>
              <a:rPr lang="en-US" dirty="0" smtClean="0"/>
              <a:t>Listings aggregation in Naukri / Indeed</a:t>
            </a:r>
          </a:p>
          <a:p>
            <a:endParaRPr lang="en-US" dirty="0" smtClean="0"/>
          </a:p>
          <a:p>
            <a:endParaRPr lang="en-US" dirty="0" smtClean="0"/>
          </a:p>
          <a:p>
            <a:endParaRPr lang="en-US" dirty="0" smtClean="0"/>
          </a:p>
          <a:p>
            <a:endParaRPr lang="en-US" dirty="0"/>
          </a:p>
          <a:p>
            <a:endParaRPr lang="en-US" dirty="0" smtClean="0"/>
          </a:p>
          <a:p>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3277459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reference - Examples</a:t>
            </a:r>
            <a:endParaRPr lang="en-US" dirty="0"/>
          </a:p>
        </p:txBody>
      </p:sp>
      <p:sp>
        <p:nvSpPr>
          <p:cNvPr id="3" name="Content Placeholder 2"/>
          <p:cNvSpPr>
            <a:spLocks noGrp="1"/>
          </p:cNvSpPr>
          <p:nvPr>
            <p:ph idx="1"/>
          </p:nvPr>
        </p:nvSpPr>
        <p:spPr/>
        <p:txBody>
          <a:bodyPr>
            <a:normAutofit lnSpcReduction="10000"/>
          </a:bodyPr>
          <a:lstStyle/>
          <a:p>
            <a:r>
              <a:rPr lang="en-US" dirty="0" err="1"/>
              <a:t>JobHai</a:t>
            </a:r>
            <a:r>
              <a:rPr lang="en-US" dirty="0"/>
              <a:t> – </a:t>
            </a:r>
            <a:r>
              <a:rPr lang="en-US" dirty="0" err="1"/>
              <a:t>VodaFone</a:t>
            </a:r>
            <a:r>
              <a:rPr lang="en-US" dirty="0"/>
              <a:t> </a:t>
            </a:r>
            <a:r>
              <a:rPr lang="en-US" dirty="0" err="1" smtClean="0"/>
              <a:t>tieup</a:t>
            </a:r>
            <a:endParaRPr lang="en-US" dirty="0"/>
          </a:p>
          <a:p>
            <a:r>
              <a:rPr lang="en-US" dirty="0" err="1"/>
              <a:t>Jeevansathi</a:t>
            </a:r>
            <a:r>
              <a:rPr lang="en-US" dirty="0"/>
              <a:t> – Free chat</a:t>
            </a:r>
          </a:p>
          <a:p>
            <a:r>
              <a:rPr lang="en-US" dirty="0"/>
              <a:t>Discounts </a:t>
            </a:r>
            <a:r>
              <a:rPr lang="en-US" dirty="0" err="1"/>
              <a:t>Zomato</a:t>
            </a:r>
            <a:endParaRPr lang="en-US" dirty="0"/>
          </a:p>
          <a:p>
            <a:r>
              <a:rPr lang="en-US" dirty="0" err="1"/>
              <a:t>Zomato</a:t>
            </a:r>
            <a:r>
              <a:rPr lang="en-US" dirty="0"/>
              <a:t> – Menu aggregation</a:t>
            </a:r>
          </a:p>
          <a:p>
            <a:r>
              <a:rPr lang="en-US" dirty="0"/>
              <a:t>Naukri – Jobs from newspapers, </a:t>
            </a:r>
            <a:r>
              <a:rPr lang="en-US" dirty="0" err="1"/>
              <a:t>consuktants</a:t>
            </a:r>
            <a:endParaRPr lang="en-US" dirty="0"/>
          </a:p>
          <a:p>
            <a:r>
              <a:rPr lang="en-US" dirty="0" err="1"/>
              <a:t>Linkedin</a:t>
            </a:r>
            <a:r>
              <a:rPr lang="en-US" dirty="0"/>
              <a:t> – Product Led Growth</a:t>
            </a:r>
          </a:p>
          <a:p>
            <a:r>
              <a:rPr lang="en-US"/>
              <a:t>Pack </a:t>
            </a:r>
            <a:r>
              <a:rPr lang="en-US" smtClean="0"/>
              <a:t>sizes </a:t>
            </a:r>
            <a:r>
              <a:rPr lang="en-US" dirty="0"/>
              <a:t>– 1 </a:t>
            </a:r>
            <a:r>
              <a:rPr lang="en-US" dirty="0" err="1"/>
              <a:t>mth</a:t>
            </a:r>
            <a:r>
              <a:rPr lang="en-US" dirty="0"/>
              <a:t>, 3 month </a:t>
            </a:r>
            <a:r>
              <a:rPr lang="en-US" dirty="0" err="1"/>
              <a:t>etc</a:t>
            </a:r>
            <a:endParaRPr lang="en-US" dirty="0"/>
          </a:p>
          <a:p>
            <a:r>
              <a:rPr lang="en-US" dirty="0" err="1"/>
              <a:t>Codingninja</a:t>
            </a:r>
            <a:endParaRPr lang="en-US" dirty="0"/>
          </a:p>
          <a:p>
            <a:r>
              <a:rPr lang="en-US" dirty="0"/>
              <a:t>Plaksha</a:t>
            </a:r>
          </a:p>
          <a:p>
            <a:endParaRPr lang="en-US" dirty="0"/>
          </a:p>
        </p:txBody>
      </p:sp>
    </p:spTree>
    <p:extLst>
      <p:ext uri="{BB962C8B-B14F-4D97-AF65-F5344CB8AC3E}">
        <p14:creationId xmlns:p14="http://schemas.microsoft.com/office/powerpoint/2010/main" val="30592061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TotalTime>
  <Words>774</Words>
  <Application>Microsoft Office PowerPoint</Application>
  <PresentationFormat>Widescreen</PresentationFormat>
  <Paragraphs>110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Early stage distribution, Customer acquisition, Growth Hacking</vt:lpstr>
      <vt:lpstr>Now you’ve built something – How do you take it to Market ?</vt:lpstr>
      <vt:lpstr>Going to Market</vt:lpstr>
      <vt:lpstr>Going to Market esp for B2B – Tools and Tricks</vt:lpstr>
      <vt:lpstr>B2C (Business-to-Consumer) User Acquisition Strategies: </vt:lpstr>
      <vt:lpstr>Business-to-Business User Acquisition Strategies: </vt:lpstr>
      <vt:lpstr>C2C (Consumer-to-Consumer) User Acquisition Strategies: </vt:lpstr>
      <vt:lpstr>Growth hacking refers to unconventional and innovative strategies used by startups and businesses to achieve rapid and sustainable growth   </vt:lpstr>
      <vt:lpstr>Growth Hacking</vt:lpstr>
      <vt:lpstr>Growth Hacking</vt:lpstr>
      <vt:lpstr>For reference - Examples</vt:lpstr>
      <vt:lpstr>For reference - Examples</vt:lpstr>
    </vt:vector>
  </TitlesOfParts>
  <Company>Infoedge India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acquisition, Goto Market,</dc:title>
  <dc:creator>Hitesh Oberoi</dc:creator>
  <cp:lastModifiedBy>Hitesh Oberoi</cp:lastModifiedBy>
  <cp:revision>37</cp:revision>
  <dcterms:created xsi:type="dcterms:W3CDTF">2024-03-30T05:06:38Z</dcterms:created>
  <dcterms:modified xsi:type="dcterms:W3CDTF">2024-04-04T00:39:39Z</dcterms:modified>
</cp:coreProperties>
</file>